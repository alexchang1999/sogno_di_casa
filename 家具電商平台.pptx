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84" r:id="rId5"/>
    <p:sldId id="285" r:id="rId6"/>
    <p:sldId id="286" r:id="rId7"/>
    <p:sldId id="266" r:id="rId8"/>
    <p:sldId id="267" r:id="rId9"/>
    <p:sldId id="268" r:id="rId10"/>
    <p:sldId id="260" r:id="rId11"/>
    <p:sldId id="261" r:id="rId12"/>
    <p:sldId id="262" r:id="rId13"/>
    <p:sldId id="269" r:id="rId14"/>
    <p:sldId id="270" r:id="rId15"/>
    <p:sldId id="263" r:id="rId16"/>
    <p:sldId id="271" r:id="rId17"/>
    <p:sldId id="301" r:id="rId18"/>
    <p:sldId id="291" r:id="rId19"/>
    <p:sldId id="292" r:id="rId20"/>
    <p:sldId id="302" r:id="rId21"/>
    <p:sldId id="293" r:id="rId22"/>
    <p:sldId id="294" r:id="rId23"/>
    <p:sldId id="272" r:id="rId24"/>
    <p:sldId id="295" r:id="rId25"/>
    <p:sldId id="264" r:id="rId26"/>
    <p:sldId id="265" r:id="rId2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BDF"/>
    <a:srgbClr val="F9FAF4"/>
    <a:srgbClr val="F2F1EF"/>
    <a:srgbClr val="FFFFFF"/>
    <a:srgbClr val="F1EBDF"/>
    <a:srgbClr val="F2EEE3"/>
    <a:srgbClr val="F6F7F2"/>
    <a:srgbClr val="F0E9DE"/>
    <a:srgbClr val="181818"/>
    <a:srgbClr val="F0E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0417" autoAdjust="0"/>
  </p:normalViewPr>
  <p:slideViewPr>
    <p:cSldViewPr>
      <p:cViewPr varScale="1">
        <p:scale>
          <a:sx n="45" d="100"/>
          <a:sy n="45" d="100"/>
        </p:scale>
        <p:origin x="152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B9D4E-0B76-4F9D-87C1-F83325858CCA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FCDEB-99F4-4236-8595-349D4D14D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95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FCDEB-99F4-4236-8595-349D4D14DC8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330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：傳統的資料操作（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新增、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讀取、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更新、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刪除）。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樞紐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(Pivot/Hub)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：指像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樞紐分析表一樣，可以隨意變換視角（例如：從「月份」看銷售額，改為從「地區」看銷售額），且作為數據流轉的核心節點。</a:t>
            </a:r>
          </a:p>
          <a:p>
            <a:br>
              <a:rPr lang="zh-TW" altLang="en-US" dirty="0"/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它是一個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「像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樞紐分析表一樣靈活，卻又能讓你直接修改、管理底層原始數據的超級控制台」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FCDEB-99F4-4236-8595-349D4D14DC8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2883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後端解法：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批次清洗資料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這就是你剛才問的「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資料清洗」。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動作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：後端工程師會寫一段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指令，檢查所有「品牌」欄位裡是否誤植了「設計師」的名字。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範例指令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（示意）：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產品表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Brand = Designer, Designer = Brand WHERE Brand = 'Arne Jacobsen'; </a:t>
            </a:r>
            <a:r>
              <a:rPr lang="en-US" altLang="zh-TW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把放錯位置的資料換回來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altLang="zh-TW" dirty="0"/>
            </a:b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舊做法（依賴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順序）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：前端死板地認為「表格第一欄一定是品牌」，如果資料放錯，它就抓錯。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新做法（使用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data-* 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屬性）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標籤上明確標記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data-brand=“xxx”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。不管這份資料在表格的第幾欄、或是後端傳過來時順序對不對，前端只認標籤名稱，這大大降低了因為資料出錯而導致程式當機的機率。</a:t>
            </a:r>
            <a:b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核心問題：為什麼會「誤判」？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現象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：前端發送請求（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fetch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）後失敗了，畫面上可能跳出錯誤。開發者直覺反應是「後端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Boot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壞了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當機了」。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真相（假性連線失敗）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：伺服器其實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活得好好的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，它還很認真地回覆了你一個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401 Unauthorized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（未授權）或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 Bad Request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（錯誤請求）。</a:t>
            </a:r>
          </a:p>
          <a:p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圖中的關鍵線索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這張圖教你如何使用瀏覽器的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面板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來「破案」：</a:t>
            </a:r>
          </a:p>
          <a:p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 Code: 401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：這代表後端的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Security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（負責安全驗證的守門員）把請求攔下來了。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：通常是因為你傳過去的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結構錯誤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，或者是我們之前討論過的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JWT Token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沒帶好、過期了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（封包內容）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：圖中紅圈處顯示了前端傳送的資料（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order_id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product...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）。如果這裡的欄位名稱打錯，或少了逗號，後端看不懂，就會直接拒絕服務。</a:t>
            </a:r>
          </a:p>
          <a:p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如何解決？（不再只靠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圖中提到的解法非常實戰：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不要只看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：因為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有時候只能看到「連線失敗」，資訊太模糊。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分析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面板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檢查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Headers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：看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JWT Token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有沒有正確放在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Authorization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欄位裡。</a:t>
            </a:r>
          </a:p>
          <a:p>
            <a:pPr lvl="1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檢查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：看傳送的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格式是否符合後端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的規定。</a:t>
            </a:r>
          </a:p>
          <a:p>
            <a:pPr lvl="1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檢查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：後端通常會回傳具體的錯誤訊息（例如：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 Token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），這才是修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的關鍵。</a:t>
            </a:r>
          </a:p>
          <a:p>
            <a:br>
              <a:rPr lang="zh-TW" altLang="en-US" dirty="0"/>
            </a:b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FCDEB-99F4-4236-8595-349D4D14DC8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070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819F0EE-6529-48AB-9C93-CC9C25ADAF5D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212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8A9849-44AE-42C1-9471-7688418A1D56}"/>
              </a:ext>
            </a:extLst>
          </p:cNvPr>
          <p:cNvSpPr/>
          <p:nvPr/>
        </p:nvSpPr>
        <p:spPr>
          <a:xfrm>
            <a:off x="1041400" y="6096000"/>
            <a:ext cx="914400" cy="6096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B7A027-32A9-4169-AD62-9D0F10E6B6A6}"/>
              </a:ext>
            </a:extLst>
          </p:cNvPr>
          <p:cNvSpPr/>
          <p:nvPr/>
        </p:nvSpPr>
        <p:spPr>
          <a:xfrm>
            <a:off x="4318000" y="7315200"/>
            <a:ext cx="2692400" cy="514611"/>
          </a:xfrm>
          <a:prstGeom prst="rect">
            <a:avLst/>
          </a:prstGeom>
          <a:solidFill>
            <a:srgbClr val="F9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報告人：張鈞皓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762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02EE9D8-3FA5-443A-B9A9-79A0C6BC2299}"/>
              </a:ext>
            </a:extLst>
          </p:cNvPr>
          <p:cNvSpPr/>
          <p:nvPr/>
        </p:nvSpPr>
        <p:spPr>
          <a:xfrm>
            <a:off x="14732000" y="8801100"/>
            <a:ext cx="1498600" cy="342900"/>
          </a:xfrm>
          <a:prstGeom prst="rect">
            <a:avLst/>
          </a:prstGeom>
          <a:solidFill>
            <a:srgbClr val="F0E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11AB5A-14B1-4AD5-8182-65DB2110A617}"/>
              </a:ext>
            </a:extLst>
          </p:cNvPr>
          <p:cNvSpPr/>
          <p:nvPr/>
        </p:nvSpPr>
        <p:spPr>
          <a:xfrm>
            <a:off x="13309600" y="6019800"/>
            <a:ext cx="2438400" cy="990600"/>
          </a:xfrm>
          <a:prstGeom prst="rect">
            <a:avLst/>
          </a:prstGeom>
          <a:solidFill>
            <a:srgbClr val="F1EB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並根據商品後台決定何處商品該放於此。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67E7B85-32C9-44FE-A81A-E0376C088756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0E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053A3B-D610-49E7-8DB6-F91D76488E6D}"/>
              </a:ext>
            </a:extLst>
          </p:cNvPr>
          <p:cNvSpPr/>
          <p:nvPr/>
        </p:nvSpPr>
        <p:spPr>
          <a:xfrm>
            <a:off x="8966200" y="228600"/>
            <a:ext cx="4800600" cy="1600200"/>
          </a:xfrm>
          <a:prstGeom prst="rect">
            <a:avLst/>
          </a:prstGeom>
          <a:solidFill>
            <a:srgbClr val="EFEB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4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彈性瀏覽模式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408E0F1-8D39-4011-B3BF-9DB2ADF71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618"/>
            <a:ext cx="16256000" cy="761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11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8DCCD06-7626-45E0-8F85-CDA112E02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233"/>
            <a:ext cx="16256000" cy="690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3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DE9EA5C-1DDF-4632-8F90-BCF7425B58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304"/>
          <a:stretch/>
        </p:blipFill>
        <p:spPr>
          <a:xfrm>
            <a:off x="0" y="3276600"/>
            <a:ext cx="16256000" cy="231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BC1BD90-24B9-4479-8415-6B9739AF50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0" y="914400"/>
            <a:ext cx="16256000" cy="82296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B671CD2-4A2C-4469-8039-60AE756DC4A9}"/>
              </a:ext>
            </a:extLst>
          </p:cNvPr>
          <p:cNvSpPr/>
          <p:nvPr/>
        </p:nvSpPr>
        <p:spPr>
          <a:xfrm>
            <a:off x="0" y="-42797"/>
            <a:ext cx="16433800" cy="990600"/>
          </a:xfrm>
          <a:prstGeom prst="rect">
            <a:avLst/>
          </a:prstGeom>
          <a:solidFill>
            <a:srgbClr val="F1EB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6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格狀</a:t>
            </a:r>
          </a:p>
        </p:txBody>
      </p:sp>
    </p:spTree>
    <p:extLst>
      <p:ext uri="{BB962C8B-B14F-4D97-AF65-F5344CB8AC3E}">
        <p14:creationId xmlns:p14="http://schemas.microsoft.com/office/powerpoint/2010/main" val="187786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7736F7A-A598-41ED-83A9-13DEE438C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B671CD2-4A2C-4469-8039-60AE756DC4A9}"/>
              </a:ext>
            </a:extLst>
          </p:cNvPr>
          <p:cNvSpPr/>
          <p:nvPr/>
        </p:nvSpPr>
        <p:spPr>
          <a:xfrm>
            <a:off x="0" y="-42797"/>
            <a:ext cx="16433800" cy="990600"/>
          </a:xfrm>
          <a:prstGeom prst="rect">
            <a:avLst/>
          </a:prstGeom>
          <a:solidFill>
            <a:srgbClr val="F1EB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6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條狀</a:t>
            </a:r>
          </a:p>
        </p:txBody>
      </p:sp>
    </p:spTree>
    <p:extLst>
      <p:ext uri="{BB962C8B-B14F-4D97-AF65-F5344CB8AC3E}">
        <p14:creationId xmlns:p14="http://schemas.microsoft.com/office/powerpoint/2010/main" val="311149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1D2C943-EA2A-479A-A642-777096DEB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84195" cy="9144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4B0D568-010D-4D06-98A4-7079AFF77CC8}"/>
              </a:ext>
            </a:extLst>
          </p:cNvPr>
          <p:cNvSpPr/>
          <p:nvPr/>
        </p:nvSpPr>
        <p:spPr>
          <a:xfrm>
            <a:off x="8471804" y="-42798"/>
            <a:ext cx="7784196" cy="9186797"/>
          </a:xfrm>
          <a:prstGeom prst="rect">
            <a:avLst/>
          </a:prstGeom>
          <a:solidFill>
            <a:srgbClr val="F1EB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4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確認結帳須提供收件人姓名、電話、聯絡人地址，後續方便專人聯繫。</a:t>
            </a:r>
          </a:p>
        </p:txBody>
      </p:sp>
    </p:spTree>
    <p:extLst>
      <p:ext uri="{BB962C8B-B14F-4D97-AF65-F5344CB8AC3E}">
        <p14:creationId xmlns:p14="http://schemas.microsoft.com/office/powerpoint/2010/main" val="2480189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34AC591-8122-4B4F-A35A-F0DBA8624A0B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0E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53B238-9543-4CEA-8F6C-7180B10E2E57}"/>
              </a:ext>
            </a:extLst>
          </p:cNvPr>
          <p:cNvSpPr/>
          <p:nvPr/>
        </p:nvSpPr>
        <p:spPr>
          <a:xfrm>
            <a:off x="9042400" y="3962400"/>
            <a:ext cx="838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4B66B21-41F3-4BC6-A72E-53798E35384F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0E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C2504BE-AB25-4531-ADE5-2241F1C5E22E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0E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4A907A7-DFE3-44A3-9922-D51CA295C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0"/>
            <a:ext cx="9982200" cy="914019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0C3E60E-3578-480A-B32C-22DE60D176AB}"/>
              </a:ext>
            </a:extLst>
          </p:cNvPr>
          <p:cNvSpPr/>
          <p:nvPr/>
        </p:nvSpPr>
        <p:spPr>
          <a:xfrm>
            <a:off x="0" y="0"/>
            <a:ext cx="6273800" cy="9186797"/>
          </a:xfrm>
          <a:prstGeom prst="rect">
            <a:avLst/>
          </a:prstGeom>
          <a:solidFill>
            <a:srgbClr val="F1EB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新增商品</a:t>
            </a:r>
          </a:p>
        </p:txBody>
      </p:sp>
    </p:spTree>
    <p:extLst>
      <p:ext uri="{BB962C8B-B14F-4D97-AF65-F5344CB8AC3E}">
        <p14:creationId xmlns:p14="http://schemas.microsoft.com/office/powerpoint/2010/main" val="891296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0C3E60E-3578-480A-B32C-22DE60D176AB}"/>
              </a:ext>
            </a:extLst>
          </p:cNvPr>
          <p:cNvSpPr/>
          <p:nvPr/>
        </p:nvSpPr>
        <p:spPr>
          <a:xfrm>
            <a:off x="0" y="0"/>
            <a:ext cx="6273800" cy="9186797"/>
          </a:xfrm>
          <a:prstGeom prst="rect">
            <a:avLst/>
          </a:prstGeom>
          <a:solidFill>
            <a:srgbClr val="F1EB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編輯商品，可選擇顏色款式並在上傳圖片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31CC98E-15EA-40A9-A529-99BB5F2CD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854" y="-10438"/>
            <a:ext cx="9949145" cy="924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33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C932135-08C7-4085-B2D4-C162AAF7B585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0E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A023CA2-37C3-4A5A-B292-E369E7DCE6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25" t="10000" r="1"/>
          <a:stretch/>
        </p:blipFill>
        <p:spPr>
          <a:xfrm>
            <a:off x="-101600" y="0"/>
            <a:ext cx="16357600" cy="8229600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D262D0A1-666E-4DB6-ADE3-28826F2C4819}"/>
              </a:ext>
            </a:extLst>
          </p:cNvPr>
          <p:cNvSpPr/>
          <p:nvPr/>
        </p:nvSpPr>
        <p:spPr>
          <a:xfrm>
            <a:off x="2108200" y="609600"/>
            <a:ext cx="4267200" cy="609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978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5356DE1-4368-45BB-8F66-4405B07C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457200"/>
            <a:ext cx="5068301" cy="269698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48F4203-EB36-490F-B9EB-BC3CE9BC2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460" y="3493711"/>
            <a:ext cx="12002540" cy="56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13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A2FF770-B981-4523-8486-74D561FDEB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94" t="4167"/>
          <a:stretch/>
        </p:blipFill>
        <p:spPr>
          <a:xfrm>
            <a:off x="-177800" y="381000"/>
            <a:ext cx="16433800" cy="8763000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A01971C-DDEF-429D-BC55-CEE204969E19}"/>
              </a:ext>
            </a:extLst>
          </p:cNvPr>
          <p:cNvSpPr/>
          <p:nvPr/>
        </p:nvSpPr>
        <p:spPr>
          <a:xfrm>
            <a:off x="0" y="3276600"/>
            <a:ext cx="2476982" cy="609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8983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29B57A2-8E53-418E-BBB1-9F67780B8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546" y="637626"/>
            <a:ext cx="9554908" cy="786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3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48A2991-066C-4F8C-92C5-2665D4A214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67"/>
          <a:stretch/>
        </p:blipFill>
        <p:spPr>
          <a:xfrm>
            <a:off x="0" y="381000"/>
            <a:ext cx="16256000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90D2ECB-A384-4FE7-B78F-861D3FE74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562" t="4167"/>
          <a:stretch/>
        </p:blipFill>
        <p:spPr>
          <a:xfrm>
            <a:off x="-254000" y="381000"/>
            <a:ext cx="16510000" cy="8763000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8485575-A10F-4607-8D15-603EF29647E5}"/>
              </a:ext>
            </a:extLst>
          </p:cNvPr>
          <p:cNvSpPr/>
          <p:nvPr/>
        </p:nvSpPr>
        <p:spPr>
          <a:xfrm>
            <a:off x="18005" y="3810000"/>
            <a:ext cx="2476982" cy="609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7045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D29EAA4-06DE-485C-B48E-E3C7F08E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651" y="651915"/>
            <a:ext cx="9478698" cy="78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85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C10EF61-8D9D-4DA0-B4DB-6BF527BBCE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25" t="4999" r="1"/>
          <a:stretch/>
        </p:blipFill>
        <p:spPr>
          <a:xfrm>
            <a:off x="-101600" y="457200"/>
            <a:ext cx="16357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42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923CA24-A968-4082-B1EB-4D3D1FB12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177" y="199415"/>
            <a:ext cx="9459645" cy="874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65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948F985-23CA-4CDA-BC38-3BB2D501B0A2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A02D674-CF88-417C-B6F0-666DBFDD7B30}"/>
              </a:ext>
            </a:extLst>
          </p:cNvPr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0E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A9EDE4-027D-4318-B8EF-D3D566A3EEFB}"/>
              </a:ext>
            </a:extLst>
          </p:cNvPr>
          <p:cNvSpPr/>
          <p:nvPr/>
        </p:nvSpPr>
        <p:spPr>
          <a:xfrm>
            <a:off x="584200" y="6934200"/>
            <a:ext cx="5257800" cy="1676400"/>
          </a:xfrm>
          <a:prstGeom prst="rect">
            <a:avLst/>
          </a:prstGeom>
          <a:solidFill>
            <a:srgbClr val="F0E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5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自主設計網頁架構、選擇合適的工具，並串接邏輯。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689</Words>
  <Application>Microsoft Office PowerPoint</Application>
  <PresentationFormat>自訂</PresentationFormat>
  <Paragraphs>37</Paragraphs>
  <Slides>26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微軟正黑體</vt:lpstr>
      <vt:lpstr>新細明體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7</cp:revision>
  <dcterms:created xsi:type="dcterms:W3CDTF">2006-08-16T00:00:00Z</dcterms:created>
  <dcterms:modified xsi:type="dcterms:W3CDTF">2026-04-28T07:24:07Z</dcterms:modified>
</cp:coreProperties>
</file>